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93" r:id="rId4"/>
    <p:sldId id="294" r:id="rId5"/>
    <p:sldId id="296" r:id="rId6"/>
    <p:sldId id="272" r:id="rId7"/>
    <p:sldId id="273" r:id="rId8"/>
    <p:sldId id="275" r:id="rId9"/>
    <p:sldId id="274" r:id="rId10"/>
    <p:sldId id="277" r:id="rId11"/>
    <p:sldId id="276" r:id="rId12"/>
    <p:sldId id="279" r:id="rId13"/>
    <p:sldId id="280" r:id="rId14"/>
    <p:sldId id="281" r:id="rId15"/>
    <p:sldId id="282" r:id="rId16"/>
    <p:sldId id="283" r:id="rId17"/>
    <p:sldId id="278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5" r:id="rId27"/>
    <p:sldId id="297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3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060" autoAdjust="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D2B96-1880-4512-B236-E5F3690E3A8F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9DB56-F452-46A2-ADD4-ECB272B65A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971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9DB56-F452-46A2-ADD4-ECB272B65AA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19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66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87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19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48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71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82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456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85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28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54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89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05BCA-05B5-4BE7-80F7-541327497272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0EE34-0798-4CBF-9752-1F58753452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22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Скругленный прямоугольник 13">
            <a:extLst>
              <a:ext uri="{FF2B5EF4-FFF2-40B4-BE49-F238E27FC236}">
                <a16:creationId xmlns:a16="http://schemas.microsoft.com/office/drawing/2014/main" id="{F086C086-AEAA-4853-B326-745D6A420DAA}"/>
              </a:ext>
            </a:extLst>
          </p:cNvPr>
          <p:cNvSpPr/>
          <p:nvPr/>
        </p:nvSpPr>
        <p:spPr>
          <a:xfrm>
            <a:off x="-349625" y="6239295"/>
            <a:ext cx="12843654" cy="7315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9">
            <a:extLst>
              <a:ext uri="{FF2B5EF4-FFF2-40B4-BE49-F238E27FC236}">
                <a16:creationId xmlns:a16="http://schemas.microsoft.com/office/drawing/2014/main" id="{6B475BD0-C02E-4ED1-BD2C-7E633DBA5200}"/>
              </a:ext>
            </a:extLst>
          </p:cNvPr>
          <p:cNvSpPr/>
          <p:nvPr/>
        </p:nvSpPr>
        <p:spPr>
          <a:xfrm>
            <a:off x="-349624" y="5436524"/>
            <a:ext cx="10981602" cy="1004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7">
            <a:extLst>
              <a:ext uri="{FF2B5EF4-FFF2-40B4-BE49-F238E27FC236}">
                <a16:creationId xmlns:a16="http://schemas.microsoft.com/office/drawing/2014/main" id="{4CAC9A54-3EA3-440D-97E4-E141B6A84637}"/>
              </a:ext>
            </a:extLst>
          </p:cNvPr>
          <p:cNvSpPr/>
          <p:nvPr/>
        </p:nvSpPr>
        <p:spPr>
          <a:xfrm>
            <a:off x="-333000" y="2752627"/>
            <a:ext cx="10258397" cy="3059724"/>
          </a:xfrm>
          <a:prstGeom prst="roundRect">
            <a:avLst>
              <a:gd name="adj" fmla="val 7732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764219BB-206A-4BDF-9FDB-54B3F447F710}"/>
              </a:ext>
            </a:extLst>
          </p:cNvPr>
          <p:cNvGrpSpPr/>
          <p:nvPr/>
        </p:nvGrpSpPr>
        <p:grpSpPr>
          <a:xfrm>
            <a:off x="8823961" y="6035955"/>
            <a:ext cx="3163294" cy="711275"/>
            <a:chOff x="1993270" y="2584670"/>
            <a:chExt cx="9712342" cy="1466705"/>
          </a:xfrm>
        </p:grpSpPr>
        <p:sp>
          <p:nvSpPr>
            <p:cNvPr id="21" name="Скругленный прямоугольник 17">
              <a:extLst>
                <a:ext uri="{FF2B5EF4-FFF2-40B4-BE49-F238E27FC236}">
                  <a16:creationId xmlns:a16="http://schemas.microsoft.com/office/drawing/2014/main" id="{EE8FD28B-9EFC-4AFA-8307-D216DC800E13}"/>
                </a:ext>
              </a:extLst>
            </p:cNvPr>
            <p:cNvSpPr/>
            <p:nvPr/>
          </p:nvSpPr>
          <p:spPr>
            <a:xfrm>
              <a:off x="1993270" y="2645710"/>
              <a:ext cx="9712342" cy="1292808"/>
            </a:xfrm>
            <a:prstGeom prst="roundRect">
              <a:avLst>
                <a:gd name="adj" fmla="val 31439"/>
              </a:avLst>
            </a:prstGeom>
            <a:solidFill>
              <a:srgbClr val="BDD7EE"/>
            </a:solidFill>
            <a:ln>
              <a:solidFill>
                <a:srgbClr val="9DC3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Заголовок 1">
              <a:extLst>
                <a:ext uri="{FF2B5EF4-FFF2-40B4-BE49-F238E27FC236}">
                  <a16:creationId xmlns:a16="http://schemas.microsoft.com/office/drawing/2014/main" id="{04C31284-781C-4D3B-95E4-EE76DB153D0D}"/>
                </a:ext>
              </a:extLst>
            </p:cNvPr>
            <p:cNvSpPr txBox="1">
              <a:spLocks/>
            </p:cNvSpPr>
            <p:nvPr/>
          </p:nvSpPr>
          <p:spPr>
            <a:xfrm>
              <a:off x="2002469" y="2584670"/>
              <a:ext cx="9703141" cy="146670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ru-RU" sz="2400" b="1" dirty="0">
                  <a:solidFill>
                    <a:srgbClr val="05336E"/>
                  </a:solidFill>
                </a:rPr>
                <a:t>Санкт-Петербург, 2026</a:t>
              </a:r>
            </a:p>
          </p:txBody>
        </p: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EF2B201F-9944-408C-8883-EAB3EEB3D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904" y="1360360"/>
            <a:ext cx="5262193" cy="1004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9191FADD-0BA4-43C5-8BD8-78A3A93A0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3054" y="5900273"/>
            <a:ext cx="8203205" cy="780957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rgbClr val="05336E"/>
                </a:solidFill>
              </a:rPr>
              <a:t>Факультет ИБС, Рассказов И. А.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08932152-105E-4D10-A1E1-78120FFE8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820" y="4530436"/>
            <a:ext cx="9438450" cy="1196098"/>
          </a:xfrm>
          <a:noFill/>
        </p:spPr>
        <p:txBody>
          <a:bodyPr>
            <a:noAutofit/>
          </a:bodyPr>
          <a:lstStyle/>
          <a:p>
            <a:pPr algn="just"/>
            <a:r>
              <a:rPr lang="ru-RU" sz="4000" dirty="0">
                <a:solidFill>
                  <a:schemeClr val="bg1"/>
                </a:solidFill>
              </a:rPr>
              <a:t>Семантический граф как инструмент анализа политической риторики</a:t>
            </a:r>
            <a:br>
              <a:rPr lang="ru-RU" sz="4000" dirty="0">
                <a:solidFill>
                  <a:schemeClr val="bg1"/>
                </a:solidFill>
              </a:rPr>
            </a:br>
            <a:r>
              <a:rPr lang="ru-RU" sz="4000" dirty="0">
                <a:solidFill>
                  <a:schemeClr val="bg1"/>
                </a:solidFill>
              </a:rPr>
              <a:t>в Государственной Думе РФ посредством изучения пояснительных записок</a:t>
            </a:r>
            <a:br>
              <a:rPr lang="ru-RU" sz="4000" dirty="0">
                <a:solidFill>
                  <a:schemeClr val="bg1"/>
                </a:solidFill>
              </a:rPr>
            </a:br>
            <a:r>
              <a:rPr lang="ru-RU" sz="4000" dirty="0">
                <a:solidFill>
                  <a:schemeClr val="bg1"/>
                </a:solidFill>
              </a:rPr>
              <a:t>к законодательным инициативам</a:t>
            </a:r>
          </a:p>
        </p:txBody>
      </p:sp>
      <p:sp>
        <p:nvSpPr>
          <p:cNvPr id="26" name="Скругленный прямоугольник 7">
            <a:extLst>
              <a:ext uri="{FF2B5EF4-FFF2-40B4-BE49-F238E27FC236}">
                <a16:creationId xmlns:a16="http://schemas.microsoft.com/office/drawing/2014/main" id="{6A4E4BD4-D9E3-4355-A029-8E601BD4FCED}"/>
              </a:ext>
            </a:extLst>
          </p:cNvPr>
          <p:cNvSpPr/>
          <p:nvPr/>
        </p:nvSpPr>
        <p:spPr>
          <a:xfrm>
            <a:off x="-333000" y="-1"/>
            <a:ext cx="12917783" cy="956511"/>
          </a:xfrm>
          <a:prstGeom prst="roundRect">
            <a:avLst>
              <a:gd name="adj" fmla="val 14736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7B906C47-8943-4DA0-91EF-F774E46F5DF9}"/>
              </a:ext>
            </a:extLst>
          </p:cNvPr>
          <p:cNvSpPr txBox="1">
            <a:spLocks/>
          </p:cNvSpPr>
          <p:nvPr/>
        </p:nvSpPr>
        <p:spPr>
          <a:xfrm>
            <a:off x="29891" y="100728"/>
            <a:ext cx="12192000" cy="75505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bg1"/>
                </a:solidFill>
                <a:latin typeface="+mn-lt"/>
              </a:rPr>
              <a:t>V молодежная (студенческая) научная конференция</a:t>
            </a:r>
            <a:br>
              <a:rPr lang="ru-RU" sz="2400" dirty="0">
                <a:solidFill>
                  <a:schemeClr val="bg1"/>
                </a:solidFill>
                <a:latin typeface="+mn-lt"/>
              </a:rPr>
            </a:br>
            <a:r>
              <a:rPr lang="ru-RU" sz="2400" dirty="0">
                <a:solidFill>
                  <a:schemeClr val="bg1"/>
                </a:solidFill>
                <a:latin typeface="+mn-lt"/>
              </a:rPr>
              <a:t>«Парламентаризм СНГ: от исторического опыта к моделям завтрашнего дня»</a:t>
            </a:r>
          </a:p>
        </p:txBody>
      </p:sp>
    </p:spTree>
    <p:extLst>
      <p:ext uri="{BB962C8B-B14F-4D97-AF65-F5344CB8AC3E}">
        <p14:creationId xmlns:p14="http://schemas.microsoft.com/office/powerpoint/2010/main" val="106635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735C734-5E59-4E81-A76D-FB592BB123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5076" y="-128917"/>
            <a:ext cx="14143285" cy="7104751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63B55E8-10F6-4F3E-AE17-6432BEFFD9E6}"/>
              </a:ext>
            </a:extLst>
          </p:cNvPr>
          <p:cNvSpPr/>
          <p:nvPr/>
        </p:nvSpPr>
        <p:spPr>
          <a:xfrm>
            <a:off x="1" y="0"/>
            <a:ext cx="6796368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3">
            <a:extLst>
              <a:ext uri="{FF2B5EF4-FFF2-40B4-BE49-F238E27FC236}">
                <a16:creationId xmlns:a16="http://schemas.microsoft.com/office/drawing/2014/main" id="{AAC78FF5-8ECE-40E4-B628-324B50D1F4E1}"/>
              </a:ext>
            </a:extLst>
          </p:cNvPr>
          <p:cNvSpPr/>
          <p:nvPr/>
        </p:nvSpPr>
        <p:spPr>
          <a:xfrm>
            <a:off x="-13445" y="1652597"/>
            <a:ext cx="6825501" cy="2853415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533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059AE13-B9E8-4042-A407-DA7FD96530C8}"/>
              </a:ext>
            </a:extLst>
          </p:cNvPr>
          <p:cNvCxnSpPr/>
          <p:nvPr/>
        </p:nvCxnSpPr>
        <p:spPr>
          <a:xfrm>
            <a:off x="6825502" y="0"/>
            <a:ext cx="0" cy="6858000"/>
          </a:xfrm>
          <a:prstGeom prst="line">
            <a:avLst/>
          </a:prstGeom>
          <a:ln w="76200">
            <a:solidFill>
              <a:srgbClr val="05336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592D4D43-B1BA-4050-A263-1E4BD269A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05336E"/>
                </a:solidFill>
              </a:rPr>
              <a:t>План</a:t>
            </a:r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E65D6B6C-BBEA-4498-A61C-6BDE0F21B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20" y="1816434"/>
            <a:ext cx="10515600" cy="4509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5336E"/>
                </a:solidFill>
              </a:rPr>
              <a:t>1. Введение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05336E"/>
                </a:solidFill>
              </a:rPr>
              <a:t>2–3. Обработка данных</a:t>
            </a:r>
          </a:p>
          <a:p>
            <a:pPr marL="0" indent="0">
              <a:buNone/>
            </a:pPr>
            <a:r>
              <a:rPr lang="ru-RU" dirty="0">
                <a:solidFill>
                  <a:srgbClr val="05336E"/>
                </a:solidFill>
              </a:rPr>
              <a:t>4–9. О программе</a:t>
            </a:r>
          </a:p>
          <a:p>
            <a:pPr marL="0" indent="0">
              <a:buNone/>
            </a:pPr>
            <a:r>
              <a:rPr lang="ru-RU" dirty="0">
                <a:solidFill>
                  <a:srgbClr val="05336E"/>
                </a:solidFill>
              </a:rPr>
              <a:t>10–23. Применение программы</a:t>
            </a:r>
          </a:p>
          <a:p>
            <a:pPr marL="0" indent="0">
              <a:buNone/>
            </a:pPr>
            <a:r>
              <a:rPr lang="ru-RU" dirty="0">
                <a:solidFill>
                  <a:srgbClr val="05336E"/>
                </a:solidFill>
              </a:rPr>
              <a:t>24. Заключение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C822669-F2D6-4777-97E4-8C3434155ADC}"/>
              </a:ext>
            </a:extLst>
          </p:cNvPr>
          <p:cNvCxnSpPr/>
          <p:nvPr/>
        </p:nvCxnSpPr>
        <p:spPr>
          <a:xfrm>
            <a:off x="6879292" y="-1"/>
            <a:ext cx="0" cy="6858000"/>
          </a:xfrm>
          <a:prstGeom prst="line">
            <a:avLst/>
          </a:prstGeom>
          <a:ln w="38100">
            <a:solidFill>
              <a:srgbClr val="05336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AA292622-25B3-4FF8-AC34-7F3C70100678}"/>
              </a:ext>
            </a:extLst>
          </p:cNvPr>
          <p:cNvCxnSpPr/>
          <p:nvPr/>
        </p:nvCxnSpPr>
        <p:spPr>
          <a:xfrm>
            <a:off x="6933080" y="-1"/>
            <a:ext cx="0" cy="6858000"/>
          </a:xfrm>
          <a:prstGeom prst="line">
            <a:avLst/>
          </a:prstGeom>
          <a:ln w="38100">
            <a:solidFill>
              <a:srgbClr val="05336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3934A8F-ABA8-4A54-9915-ACF33316DB98}"/>
              </a:ext>
            </a:extLst>
          </p:cNvPr>
          <p:cNvCxnSpPr/>
          <p:nvPr/>
        </p:nvCxnSpPr>
        <p:spPr>
          <a:xfrm>
            <a:off x="7000316" y="-1"/>
            <a:ext cx="0" cy="6858000"/>
          </a:xfrm>
          <a:prstGeom prst="line">
            <a:avLst/>
          </a:prstGeom>
          <a:ln w="38100">
            <a:solidFill>
              <a:srgbClr val="05336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328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F4A601-FDE2-40F2-9327-D5F5605356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5076" y="-128917"/>
            <a:ext cx="14143285" cy="7104751"/>
          </a:xfrm>
          <a:prstGeom prst="rect">
            <a:avLst/>
          </a:prstGeom>
        </p:spPr>
      </p:pic>
      <p:sp>
        <p:nvSpPr>
          <p:cNvPr id="2" name="Скругленный прямоугольник 21">
            <a:extLst>
              <a:ext uri="{FF2B5EF4-FFF2-40B4-BE49-F238E27FC236}">
                <a16:creationId xmlns:a16="http://schemas.microsoft.com/office/drawing/2014/main" id="{529188B8-1CBD-4298-83D5-DCDCDFB31AD4}"/>
              </a:ext>
            </a:extLst>
          </p:cNvPr>
          <p:cNvSpPr/>
          <p:nvPr/>
        </p:nvSpPr>
        <p:spPr>
          <a:xfrm>
            <a:off x="6004874" y="590843"/>
            <a:ext cx="6679495" cy="815925"/>
          </a:xfrm>
          <a:prstGeom prst="roundRect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A264184-31DD-4DAD-9DAD-F591EA14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545" y="365125"/>
            <a:ext cx="5517259" cy="1325563"/>
          </a:xfrm>
        </p:spPr>
        <p:txBody>
          <a:bodyPr>
            <a:normAutofit/>
          </a:bodyPr>
          <a:lstStyle/>
          <a:p>
            <a:r>
              <a:rPr lang="ru-RU" sz="4200" b="1" dirty="0">
                <a:solidFill>
                  <a:schemeClr val="bg1"/>
                </a:solidFill>
              </a:rPr>
              <a:t>Введение</a:t>
            </a:r>
          </a:p>
        </p:txBody>
      </p:sp>
      <p:sp>
        <p:nvSpPr>
          <p:cNvPr id="4" name="Скругленный прямоугольник 23">
            <a:extLst>
              <a:ext uri="{FF2B5EF4-FFF2-40B4-BE49-F238E27FC236}">
                <a16:creationId xmlns:a16="http://schemas.microsoft.com/office/drawing/2014/main" id="{C6A93373-36FB-481E-83CE-A4115440CBBD}"/>
              </a:ext>
            </a:extLst>
          </p:cNvPr>
          <p:cNvSpPr/>
          <p:nvPr/>
        </p:nvSpPr>
        <p:spPr>
          <a:xfrm>
            <a:off x="6004874" y="1994261"/>
            <a:ext cx="5529975" cy="4139120"/>
          </a:xfrm>
          <a:prstGeom prst="roundRect">
            <a:avLst>
              <a:gd name="adj" fmla="val 56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533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27F67E3-4987-4DF2-B411-56C4CED6AA42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C71EC-B810-4392-A580-E1A590FF9A42}"/>
              </a:ext>
            </a:extLst>
          </p:cNvPr>
          <p:cNvSpPr txBox="1"/>
          <p:nvPr/>
        </p:nvSpPr>
        <p:spPr>
          <a:xfrm>
            <a:off x="6240545" y="2123370"/>
            <a:ext cx="4988930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400" dirty="0">
                <a:solidFill>
                  <a:srgbClr val="05336E"/>
                </a:solidFill>
              </a:rPr>
              <a:t>Цифровая историография требует применения инструментов семантического анализа, способных автоматизировать обработку текстов</a:t>
            </a:r>
            <a:br>
              <a:rPr lang="ru-RU" sz="2400" dirty="0">
                <a:solidFill>
                  <a:srgbClr val="05336E"/>
                </a:solidFill>
              </a:rPr>
            </a:br>
            <a:r>
              <a:rPr lang="ru-RU" sz="2400" dirty="0">
                <a:solidFill>
                  <a:srgbClr val="05336E"/>
                </a:solidFill>
              </a:rPr>
              <a:t>и визуализировать взаимосвязи.</a:t>
            </a:r>
          </a:p>
          <a:p>
            <a:pPr algn="just"/>
            <a:endParaRPr lang="ru-RU" sz="2400" dirty="0">
              <a:solidFill>
                <a:srgbClr val="05336E"/>
              </a:solidFill>
            </a:endParaRPr>
          </a:p>
          <a:p>
            <a:pPr algn="just"/>
            <a:r>
              <a:rPr lang="ru-RU" sz="2400" dirty="0">
                <a:solidFill>
                  <a:srgbClr val="05336E"/>
                </a:solidFill>
              </a:rPr>
              <a:t>Граф позволит составить «портреты» фракций, субъектов и слов — оценить политическую риторику</a:t>
            </a:r>
            <a:br>
              <a:rPr lang="ru-RU" sz="2400" dirty="0">
                <a:solidFill>
                  <a:srgbClr val="05336E"/>
                </a:solidFill>
              </a:rPr>
            </a:br>
            <a:r>
              <a:rPr lang="ru-RU" sz="2400" dirty="0">
                <a:solidFill>
                  <a:srgbClr val="05336E"/>
                </a:solidFill>
              </a:rPr>
              <a:t>в определённый временной период.</a:t>
            </a:r>
          </a:p>
        </p:txBody>
      </p:sp>
    </p:spTree>
    <p:extLst>
      <p:ext uri="{BB962C8B-B14F-4D97-AF65-F5344CB8AC3E}">
        <p14:creationId xmlns:p14="http://schemas.microsoft.com/office/powerpoint/2010/main" val="218674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F4E5D68E-4664-4E2B-8973-8373AB862B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5076" y="-128917"/>
            <a:ext cx="14143285" cy="7104751"/>
          </a:xfrm>
          <a:prstGeom prst="rect">
            <a:avLst/>
          </a:prstGeom>
        </p:spPr>
      </p:pic>
      <p:sp>
        <p:nvSpPr>
          <p:cNvPr id="10" name="Скругленный прямоугольник 11">
            <a:extLst>
              <a:ext uri="{FF2B5EF4-FFF2-40B4-BE49-F238E27FC236}">
                <a16:creationId xmlns:a16="http://schemas.microsoft.com/office/drawing/2014/main" id="{9EA8680C-9004-4437-9B9A-67B7488AA2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27F67E3-4987-4DF2-B411-56C4CED6AA42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2</a:t>
            </a:r>
          </a:p>
        </p:txBody>
      </p:sp>
      <p:sp>
        <p:nvSpPr>
          <p:cNvPr id="42" name="Скругленный прямоугольник 13">
            <a:extLst>
              <a:ext uri="{FF2B5EF4-FFF2-40B4-BE49-F238E27FC236}">
                <a16:creationId xmlns:a16="http://schemas.microsoft.com/office/drawing/2014/main" id="{5260C6C9-9EE2-4ED7-93FB-2A56CF3C0DD6}"/>
              </a:ext>
            </a:extLst>
          </p:cNvPr>
          <p:cNvSpPr/>
          <p:nvPr/>
        </p:nvSpPr>
        <p:spPr>
          <a:xfrm>
            <a:off x="666235" y="1356221"/>
            <a:ext cx="4733932" cy="1416301"/>
          </a:xfrm>
          <a:prstGeom prst="roundRect">
            <a:avLst>
              <a:gd name="adj" fmla="val 11602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533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C77D5639-B28F-463B-A39A-39A564DB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799" y="1829052"/>
            <a:ext cx="4261674" cy="7807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solidFill>
                  <a:srgbClr val="05336E"/>
                </a:solidFill>
              </a:rPr>
              <a:t>Анализ основного содержания законопроекта.</a:t>
            </a:r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88B99987-AC2B-491B-AA62-7C51B4F9BEE2}"/>
              </a:ext>
            </a:extLst>
          </p:cNvPr>
          <p:cNvGrpSpPr/>
          <p:nvPr/>
        </p:nvGrpSpPr>
        <p:grpSpPr>
          <a:xfrm>
            <a:off x="666234" y="1028562"/>
            <a:ext cx="3698051" cy="678585"/>
            <a:chOff x="666234" y="838984"/>
            <a:chExt cx="3698051" cy="678585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B3D09A42-B3FD-4E06-8D4F-6EC335936195}"/>
                </a:ext>
              </a:extLst>
            </p:cNvPr>
            <p:cNvGrpSpPr/>
            <p:nvPr/>
          </p:nvGrpSpPr>
          <p:grpSpPr>
            <a:xfrm>
              <a:off x="838511" y="838984"/>
              <a:ext cx="3525774" cy="678585"/>
              <a:chOff x="250102" y="2779252"/>
              <a:chExt cx="1315658" cy="779902"/>
            </a:xfrm>
          </p:grpSpPr>
          <p:sp>
            <p:nvSpPr>
              <p:cNvPr id="29" name="Скругленный прямоугольник 56">
                <a:extLst>
                  <a:ext uri="{FF2B5EF4-FFF2-40B4-BE49-F238E27FC236}">
                    <a16:creationId xmlns:a16="http://schemas.microsoft.com/office/drawing/2014/main" id="{AAFE25D1-883E-4D80-A369-159CC26E326E}"/>
                  </a:ext>
                </a:extLst>
              </p:cNvPr>
              <p:cNvSpPr/>
              <p:nvPr/>
            </p:nvSpPr>
            <p:spPr>
              <a:xfrm>
                <a:off x="250102" y="2779252"/>
                <a:ext cx="1315658" cy="779902"/>
              </a:xfrm>
              <a:prstGeom prst="roundRect">
                <a:avLst>
                  <a:gd name="adj" fmla="val 25098"/>
                </a:avLst>
              </a:prstGeom>
              <a:solidFill>
                <a:srgbClr val="0533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0" name="Заголовок 1">
                <a:extLst>
                  <a:ext uri="{FF2B5EF4-FFF2-40B4-BE49-F238E27FC236}">
                    <a16:creationId xmlns:a16="http://schemas.microsoft.com/office/drawing/2014/main" id="{FA5AAC87-EA4F-4A81-A019-9066ECD532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4890" y="2854561"/>
                <a:ext cx="1020120" cy="6046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ru-RU" sz="2400" b="1" dirty="0">
                    <a:solidFill>
                      <a:schemeClr val="bg1"/>
                    </a:solidFill>
                  </a:rPr>
                  <a:t>Удаление заголовка</a:t>
                </a:r>
              </a:p>
            </p:txBody>
          </p:sp>
        </p:grp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99E52D56-44F3-43A0-8B7E-6EAC3FC41672}"/>
                </a:ext>
              </a:extLst>
            </p:cNvPr>
            <p:cNvSpPr/>
            <p:nvPr/>
          </p:nvSpPr>
          <p:spPr>
            <a:xfrm>
              <a:off x="666234" y="840043"/>
              <a:ext cx="677525" cy="67752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533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rgbClr val="05336E"/>
                  </a:solidFill>
                </a:rPr>
                <a:t>1</a:t>
              </a:r>
            </a:p>
          </p:txBody>
        </p:sp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2E2E6106-3868-41C7-B725-8920EE90776D}"/>
              </a:ext>
            </a:extLst>
          </p:cNvPr>
          <p:cNvGrpSpPr/>
          <p:nvPr/>
        </p:nvGrpSpPr>
        <p:grpSpPr>
          <a:xfrm>
            <a:off x="668721" y="3563044"/>
            <a:ext cx="4733933" cy="1743960"/>
            <a:chOff x="668721" y="2908784"/>
            <a:chExt cx="4733933" cy="1743960"/>
          </a:xfrm>
        </p:grpSpPr>
        <p:sp>
          <p:nvSpPr>
            <p:cNvPr id="44" name="Скругленный прямоугольник 13">
              <a:extLst>
                <a:ext uri="{FF2B5EF4-FFF2-40B4-BE49-F238E27FC236}">
                  <a16:creationId xmlns:a16="http://schemas.microsoft.com/office/drawing/2014/main" id="{734F2C91-1CB7-4888-92F4-C991E509DC68}"/>
                </a:ext>
              </a:extLst>
            </p:cNvPr>
            <p:cNvSpPr/>
            <p:nvPr/>
          </p:nvSpPr>
          <p:spPr>
            <a:xfrm>
              <a:off x="668722" y="3236443"/>
              <a:ext cx="4733932" cy="1416301"/>
            </a:xfrm>
            <a:prstGeom prst="roundRect">
              <a:avLst>
                <a:gd name="adj" fmla="val 1559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533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5" name="Объект 2">
              <a:extLst>
                <a:ext uri="{FF2B5EF4-FFF2-40B4-BE49-F238E27FC236}">
                  <a16:creationId xmlns:a16="http://schemas.microsoft.com/office/drawing/2014/main" id="{38524D24-4E54-43FC-93DE-50CB5237F0A0}"/>
                </a:ext>
              </a:extLst>
            </p:cNvPr>
            <p:cNvSpPr txBox="1">
              <a:spLocks/>
            </p:cNvSpPr>
            <p:nvPr/>
          </p:nvSpPr>
          <p:spPr>
            <a:xfrm>
              <a:off x="1037286" y="3709274"/>
              <a:ext cx="4261674" cy="78078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Font typeface="Arial" panose="020B0604020202020204" pitchFamily="34" charset="0"/>
                <a:buNone/>
              </a:pPr>
              <a:r>
                <a:rPr lang="ru-RU" sz="2400" dirty="0">
                  <a:solidFill>
                    <a:srgbClr val="05336E"/>
                  </a:solidFill>
                </a:rPr>
                <a:t>Очистка текста от знаков препинания, абзацев.</a:t>
              </a:r>
            </a:p>
          </p:txBody>
        </p:sp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506EC30B-140C-41BF-AEB2-8CB9D44BD6D3}"/>
                </a:ext>
              </a:extLst>
            </p:cNvPr>
            <p:cNvGrpSpPr/>
            <p:nvPr/>
          </p:nvGrpSpPr>
          <p:grpSpPr>
            <a:xfrm>
              <a:off x="668721" y="2908784"/>
              <a:ext cx="3698051" cy="678585"/>
              <a:chOff x="195368" y="575034"/>
              <a:chExt cx="3698051" cy="678585"/>
            </a:xfrm>
          </p:grpSpPr>
          <p:grpSp>
            <p:nvGrpSpPr>
              <p:cNvPr id="47" name="Группа 46">
                <a:extLst>
                  <a:ext uri="{FF2B5EF4-FFF2-40B4-BE49-F238E27FC236}">
                    <a16:creationId xmlns:a16="http://schemas.microsoft.com/office/drawing/2014/main" id="{653D7085-6CD8-40C2-9423-03F5E465160D}"/>
                  </a:ext>
                </a:extLst>
              </p:cNvPr>
              <p:cNvGrpSpPr/>
              <p:nvPr/>
            </p:nvGrpSpPr>
            <p:grpSpPr>
              <a:xfrm>
                <a:off x="367645" y="575034"/>
                <a:ext cx="3525774" cy="678585"/>
                <a:chOff x="250102" y="2779252"/>
                <a:chExt cx="1315658" cy="779902"/>
              </a:xfrm>
            </p:grpSpPr>
            <p:sp>
              <p:nvSpPr>
                <p:cNvPr id="49" name="Скругленный прямоугольник 56">
                  <a:extLst>
                    <a:ext uri="{FF2B5EF4-FFF2-40B4-BE49-F238E27FC236}">
                      <a16:creationId xmlns:a16="http://schemas.microsoft.com/office/drawing/2014/main" id="{1E84C0CD-21D4-4E86-BF9F-82D7379D36B8}"/>
                    </a:ext>
                  </a:extLst>
                </p:cNvPr>
                <p:cNvSpPr/>
                <p:nvPr/>
              </p:nvSpPr>
              <p:spPr>
                <a:xfrm>
                  <a:off x="250102" y="2779252"/>
                  <a:ext cx="1315658" cy="779902"/>
                </a:xfrm>
                <a:prstGeom prst="roundRect">
                  <a:avLst>
                    <a:gd name="adj" fmla="val 25098"/>
                  </a:avLst>
                </a:prstGeom>
                <a:solidFill>
                  <a:srgbClr val="0533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50" name="Заголовок 1">
                  <a:extLst>
                    <a:ext uri="{FF2B5EF4-FFF2-40B4-BE49-F238E27FC236}">
                      <a16:creationId xmlns:a16="http://schemas.microsoft.com/office/drawing/2014/main" id="{F51C65C1-438E-4805-886D-306EFCC5A8B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73962" y="2854561"/>
                  <a:ext cx="1020119" cy="60463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ru-RU" sz="2400" b="1" dirty="0">
                      <a:solidFill>
                        <a:schemeClr val="bg1"/>
                      </a:solidFill>
                    </a:rPr>
                    <a:t>Предобработка</a:t>
                  </a:r>
                </a:p>
              </p:txBody>
            </p:sp>
          </p:grpSp>
          <p:sp>
            <p:nvSpPr>
              <p:cNvPr id="48" name="Овал 47">
                <a:extLst>
                  <a:ext uri="{FF2B5EF4-FFF2-40B4-BE49-F238E27FC236}">
                    <a16:creationId xmlns:a16="http://schemas.microsoft.com/office/drawing/2014/main" id="{21E50111-B97A-4067-8F21-C5FC1C666DF2}"/>
                  </a:ext>
                </a:extLst>
              </p:cNvPr>
              <p:cNvSpPr/>
              <p:nvPr/>
            </p:nvSpPr>
            <p:spPr>
              <a:xfrm>
                <a:off x="195368" y="576093"/>
                <a:ext cx="677525" cy="67752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5336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400" dirty="0">
                    <a:solidFill>
                      <a:srgbClr val="05336E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0EC5381F-FF45-418F-ADC9-36E05D0C4272}"/>
              </a:ext>
            </a:extLst>
          </p:cNvPr>
          <p:cNvGrpSpPr/>
          <p:nvPr/>
        </p:nvGrpSpPr>
        <p:grpSpPr>
          <a:xfrm>
            <a:off x="6787497" y="813754"/>
            <a:ext cx="4733933" cy="2006093"/>
            <a:chOff x="6787497" y="813754"/>
            <a:chExt cx="4733933" cy="2006093"/>
          </a:xfrm>
        </p:grpSpPr>
        <p:sp>
          <p:nvSpPr>
            <p:cNvPr id="51" name="Скругленный прямоугольник 13">
              <a:extLst>
                <a:ext uri="{FF2B5EF4-FFF2-40B4-BE49-F238E27FC236}">
                  <a16:creationId xmlns:a16="http://schemas.microsoft.com/office/drawing/2014/main" id="{7E72E4EE-526F-405C-AE34-48076BF43A7B}"/>
                </a:ext>
              </a:extLst>
            </p:cNvPr>
            <p:cNvSpPr/>
            <p:nvPr/>
          </p:nvSpPr>
          <p:spPr>
            <a:xfrm>
              <a:off x="6787498" y="1141413"/>
              <a:ext cx="4733932" cy="1678434"/>
            </a:xfrm>
            <a:prstGeom prst="roundRect">
              <a:avLst>
                <a:gd name="adj" fmla="val 11602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533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2" name="Объект 2">
              <a:extLst>
                <a:ext uri="{FF2B5EF4-FFF2-40B4-BE49-F238E27FC236}">
                  <a16:creationId xmlns:a16="http://schemas.microsoft.com/office/drawing/2014/main" id="{3DAD704A-4D2F-4F6A-9307-1A1D1FE63AA6}"/>
                </a:ext>
              </a:extLst>
            </p:cNvPr>
            <p:cNvSpPr txBox="1">
              <a:spLocks/>
            </p:cNvSpPr>
            <p:nvPr/>
          </p:nvSpPr>
          <p:spPr>
            <a:xfrm>
              <a:off x="7156062" y="1614244"/>
              <a:ext cx="4001139" cy="120560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Font typeface="Arial" panose="020B0604020202020204" pitchFamily="34" charset="0"/>
                <a:buNone/>
              </a:pPr>
              <a:r>
                <a:rPr lang="ru-RU" sz="2400" dirty="0">
                  <a:solidFill>
                    <a:srgbClr val="05336E"/>
                  </a:solidFill>
                </a:rPr>
                <a:t>Все словоформы должны быть представлены</a:t>
              </a:r>
              <a:br>
                <a:rPr lang="ru-RU" sz="2400" dirty="0">
                  <a:solidFill>
                    <a:srgbClr val="05336E"/>
                  </a:solidFill>
                </a:rPr>
              </a:br>
              <a:r>
                <a:rPr lang="ru-RU" sz="2400" dirty="0">
                  <a:solidFill>
                    <a:srgbClr val="05336E"/>
                  </a:solidFill>
                </a:rPr>
                <a:t>в начальном виде.</a:t>
              </a:r>
            </a:p>
          </p:txBody>
        </p:sp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A996197C-89B9-4AC4-A0B4-6FC18D233AAF}"/>
                </a:ext>
              </a:extLst>
            </p:cNvPr>
            <p:cNvGrpSpPr/>
            <p:nvPr/>
          </p:nvGrpSpPr>
          <p:grpSpPr>
            <a:xfrm>
              <a:off x="6787497" y="813754"/>
              <a:ext cx="3698051" cy="678585"/>
              <a:chOff x="195368" y="575034"/>
              <a:chExt cx="3698051" cy="678585"/>
            </a:xfrm>
          </p:grpSpPr>
          <p:grpSp>
            <p:nvGrpSpPr>
              <p:cNvPr id="54" name="Группа 53">
                <a:extLst>
                  <a:ext uri="{FF2B5EF4-FFF2-40B4-BE49-F238E27FC236}">
                    <a16:creationId xmlns:a16="http://schemas.microsoft.com/office/drawing/2014/main" id="{703271CF-EBE6-463C-9EE6-DB755E9E9C88}"/>
                  </a:ext>
                </a:extLst>
              </p:cNvPr>
              <p:cNvGrpSpPr/>
              <p:nvPr/>
            </p:nvGrpSpPr>
            <p:grpSpPr>
              <a:xfrm>
                <a:off x="367645" y="575034"/>
                <a:ext cx="3525774" cy="678585"/>
                <a:chOff x="250102" y="2779252"/>
                <a:chExt cx="1315658" cy="779902"/>
              </a:xfrm>
            </p:grpSpPr>
            <p:sp>
              <p:nvSpPr>
                <p:cNvPr id="56" name="Скругленный прямоугольник 56">
                  <a:extLst>
                    <a:ext uri="{FF2B5EF4-FFF2-40B4-BE49-F238E27FC236}">
                      <a16:creationId xmlns:a16="http://schemas.microsoft.com/office/drawing/2014/main" id="{E5D093EB-2C13-4497-826B-5EA6FC8A7CBD}"/>
                    </a:ext>
                  </a:extLst>
                </p:cNvPr>
                <p:cNvSpPr/>
                <p:nvPr/>
              </p:nvSpPr>
              <p:spPr>
                <a:xfrm>
                  <a:off x="250102" y="2779252"/>
                  <a:ext cx="1315658" cy="779902"/>
                </a:xfrm>
                <a:prstGeom prst="roundRect">
                  <a:avLst>
                    <a:gd name="adj" fmla="val 25098"/>
                  </a:avLst>
                </a:prstGeom>
                <a:solidFill>
                  <a:srgbClr val="0533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57" name="Заголовок 1">
                  <a:extLst>
                    <a:ext uri="{FF2B5EF4-FFF2-40B4-BE49-F238E27FC236}">
                      <a16:creationId xmlns:a16="http://schemas.microsoft.com/office/drawing/2014/main" id="{A8A2ECA7-CD52-4901-83BD-D2F98A3FD4F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73962" y="2854561"/>
                  <a:ext cx="1020119" cy="60463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ru-RU" sz="2400" b="1" dirty="0" err="1">
                      <a:solidFill>
                        <a:schemeClr val="bg1"/>
                      </a:solidFill>
                    </a:rPr>
                    <a:t>Лемматизация</a:t>
                  </a:r>
                  <a:endParaRPr lang="ru-RU" sz="2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5" name="Овал 54">
                <a:extLst>
                  <a:ext uri="{FF2B5EF4-FFF2-40B4-BE49-F238E27FC236}">
                    <a16:creationId xmlns:a16="http://schemas.microsoft.com/office/drawing/2014/main" id="{BDAC2C71-3CC2-464A-9038-5B33E477CB7B}"/>
                  </a:ext>
                </a:extLst>
              </p:cNvPr>
              <p:cNvSpPr/>
              <p:nvPr/>
            </p:nvSpPr>
            <p:spPr>
              <a:xfrm>
                <a:off x="195368" y="576093"/>
                <a:ext cx="677525" cy="67752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5336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400" dirty="0">
                    <a:solidFill>
                      <a:srgbClr val="05336E"/>
                    </a:solidFill>
                  </a:rPr>
                  <a:t>3</a:t>
                </a:r>
              </a:p>
            </p:txBody>
          </p:sp>
        </p:grp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1A51F328-3DB8-4170-92A2-34BEDF22D18E}"/>
              </a:ext>
            </a:extLst>
          </p:cNvPr>
          <p:cNvGrpSpPr/>
          <p:nvPr/>
        </p:nvGrpSpPr>
        <p:grpSpPr>
          <a:xfrm>
            <a:off x="6787496" y="3306900"/>
            <a:ext cx="4733933" cy="3199719"/>
            <a:chOff x="6787496" y="3306900"/>
            <a:chExt cx="4733933" cy="3199719"/>
          </a:xfrm>
        </p:grpSpPr>
        <p:sp>
          <p:nvSpPr>
            <p:cNvPr id="64" name="Скругленный прямоугольник 13">
              <a:extLst>
                <a:ext uri="{FF2B5EF4-FFF2-40B4-BE49-F238E27FC236}">
                  <a16:creationId xmlns:a16="http://schemas.microsoft.com/office/drawing/2014/main" id="{FAC46D9C-B08F-44F0-8C0C-620880BD018F}"/>
                </a:ext>
              </a:extLst>
            </p:cNvPr>
            <p:cNvSpPr/>
            <p:nvPr/>
          </p:nvSpPr>
          <p:spPr>
            <a:xfrm>
              <a:off x="6787497" y="3634558"/>
              <a:ext cx="4733932" cy="2399229"/>
            </a:xfrm>
            <a:prstGeom prst="roundRect">
              <a:avLst>
                <a:gd name="adj" fmla="val 8852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0533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5" name="Объект 2">
              <a:extLst>
                <a:ext uri="{FF2B5EF4-FFF2-40B4-BE49-F238E27FC236}">
                  <a16:creationId xmlns:a16="http://schemas.microsoft.com/office/drawing/2014/main" id="{460A593E-5B5F-437F-BC62-BE81D4A3A4F0}"/>
                </a:ext>
              </a:extLst>
            </p:cNvPr>
            <p:cNvSpPr txBox="1">
              <a:spLocks/>
            </p:cNvSpPr>
            <p:nvPr/>
          </p:nvSpPr>
          <p:spPr>
            <a:xfrm>
              <a:off x="7156061" y="4107390"/>
              <a:ext cx="4115730" cy="239922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Font typeface="Arial" panose="020B0604020202020204" pitchFamily="34" charset="0"/>
                <a:buNone/>
              </a:pPr>
              <a:r>
                <a:rPr lang="ru-RU" sz="2400" dirty="0">
                  <a:solidFill>
                    <a:srgbClr val="05336E"/>
                  </a:solidFill>
                </a:rPr>
                <a:t>Удаление пользовательских слов («стоп-слов»).</a:t>
              </a:r>
            </a:p>
            <a:p>
              <a:pPr marL="0" indent="0" algn="just">
                <a:buFont typeface="Arial" panose="020B0604020202020204" pitchFamily="34" charset="0"/>
                <a:buNone/>
              </a:pPr>
              <a:r>
                <a:rPr lang="ru-RU" sz="2400" dirty="0">
                  <a:solidFill>
                    <a:srgbClr val="05336E"/>
                  </a:solidFill>
                </a:rPr>
                <a:t>Выделение </a:t>
              </a:r>
              <a:r>
                <a:rPr lang="en-US" sz="2400" i="1" dirty="0">
                  <a:solidFill>
                    <a:srgbClr val="05336E"/>
                  </a:solidFill>
                </a:rPr>
                <a:t>n</a:t>
              </a:r>
              <a:r>
                <a:rPr lang="en-US" sz="2400" dirty="0">
                  <a:solidFill>
                    <a:srgbClr val="05336E"/>
                  </a:solidFill>
                </a:rPr>
                <a:t>-</a:t>
              </a:r>
              <a:r>
                <a:rPr lang="ru-RU" sz="2400" dirty="0">
                  <a:solidFill>
                    <a:srgbClr val="05336E"/>
                  </a:solidFill>
                </a:rPr>
                <a:t>грамм.</a:t>
              </a:r>
            </a:p>
            <a:p>
              <a:pPr marL="0" indent="0" algn="just">
                <a:buFont typeface="Arial" panose="020B0604020202020204" pitchFamily="34" charset="0"/>
                <a:buNone/>
              </a:pPr>
              <a:r>
                <a:rPr lang="ru-RU" sz="2400" dirty="0">
                  <a:solidFill>
                    <a:srgbClr val="05336E"/>
                  </a:solidFill>
                </a:rPr>
                <a:t>Расшифровка обозначений.</a:t>
              </a:r>
            </a:p>
          </p:txBody>
        </p:sp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15F9B80F-8574-4A84-8D84-CDA78AB7613D}"/>
                </a:ext>
              </a:extLst>
            </p:cNvPr>
            <p:cNvGrpSpPr/>
            <p:nvPr/>
          </p:nvGrpSpPr>
          <p:grpSpPr>
            <a:xfrm>
              <a:off x="6787496" y="3306900"/>
              <a:ext cx="3698051" cy="678585"/>
              <a:chOff x="195368" y="575034"/>
              <a:chExt cx="3698051" cy="678585"/>
            </a:xfrm>
          </p:grpSpPr>
          <p:grpSp>
            <p:nvGrpSpPr>
              <p:cNvPr id="67" name="Группа 66">
                <a:extLst>
                  <a:ext uri="{FF2B5EF4-FFF2-40B4-BE49-F238E27FC236}">
                    <a16:creationId xmlns:a16="http://schemas.microsoft.com/office/drawing/2014/main" id="{86C6D36D-77CF-4E5A-B235-35CFF11FFFA9}"/>
                  </a:ext>
                </a:extLst>
              </p:cNvPr>
              <p:cNvGrpSpPr/>
              <p:nvPr/>
            </p:nvGrpSpPr>
            <p:grpSpPr>
              <a:xfrm>
                <a:off x="367645" y="575034"/>
                <a:ext cx="3525774" cy="678585"/>
                <a:chOff x="250102" y="2779252"/>
                <a:chExt cx="1315658" cy="779902"/>
              </a:xfrm>
            </p:grpSpPr>
            <p:sp>
              <p:nvSpPr>
                <p:cNvPr id="69" name="Скругленный прямоугольник 56">
                  <a:extLst>
                    <a:ext uri="{FF2B5EF4-FFF2-40B4-BE49-F238E27FC236}">
                      <a16:creationId xmlns:a16="http://schemas.microsoft.com/office/drawing/2014/main" id="{2ECF21E3-F8CD-4E22-A590-84F76AF4FE27}"/>
                    </a:ext>
                  </a:extLst>
                </p:cNvPr>
                <p:cNvSpPr/>
                <p:nvPr/>
              </p:nvSpPr>
              <p:spPr>
                <a:xfrm>
                  <a:off x="250102" y="2779252"/>
                  <a:ext cx="1315658" cy="779902"/>
                </a:xfrm>
                <a:prstGeom prst="roundRect">
                  <a:avLst>
                    <a:gd name="adj" fmla="val 25098"/>
                  </a:avLst>
                </a:prstGeom>
                <a:solidFill>
                  <a:srgbClr val="0533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 dirty="0"/>
                </a:p>
              </p:txBody>
            </p:sp>
            <p:sp>
              <p:nvSpPr>
                <p:cNvPr id="70" name="Заголовок 1">
                  <a:extLst>
                    <a:ext uri="{FF2B5EF4-FFF2-40B4-BE49-F238E27FC236}">
                      <a16:creationId xmlns:a16="http://schemas.microsoft.com/office/drawing/2014/main" id="{2ACAF558-77D7-4641-887B-B4CEB0B3B04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73962" y="2854561"/>
                  <a:ext cx="1020119" cy="60463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4400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r>
                    <a:rPr lang="ru-RU" sz="2400" b="1" dirty="0">
                      <a:solidFill>
                        <a:schemeClr val="bg1"/>
                      </a:solidFill>
                    </a:rPr>
                    <a:t>Подготовка</a:t>
                  </a:r>
                </a:p>
              </p:txBody>
            </p:sp>
          </p:grpSp>
          <p:sp>
            <p:nvSpPr>
              <p:cNvPr id="68" name="Овал 67">
                <a:extLst>
                  <a:ext uri="{FF2B5EF4-FFF2-40B4-BE49-F238E27FC236}">
                    <a16:creationId xmlns:a16="http://schemas.microsoft.com/office/drawing/2014/main" id="{69244A6C-68C5-4364-B142-74CB5BD1E373}"/>
                  </a:ext>
                </a:extLst>
              </p:cNvPr>
              <p:cNvSpPr/>
              <p:nvPr/>
            </p:nvSpPr>
            <p:spPr>
              <a:xfrm>
                <a:off x="195368" y="576093"/>
                <a:ext cx="677525" cy="67752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5336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400" dirty="0">
                    <a:solidFill>
                      <a:srgbClr val="05336E"/>
                    </a:solidFill>
                  </a:rPr>
                  <a:t>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93318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04528094-52DE-43E0-9903-5B637045A6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5076" y="-128917"/>
            <a:ext cx="14143285" cy="7104751"/>
          </a:xfrm>
          <a:prstGeom prst="rect">
            <a:avLst/>
          </a:prstGeom>
        </p:spPr>
      </p:pic>
      <p:sp>
        <p:nvSpPr>
          <p:cNvPr id="33" name="Скругленный прямоугольник 11">
            <a:extLst>
              <a:ext uri="{FF2B5EF4-FFF2-40B4-BE49-F238E27FC236}">
                <a16:creationId xmlns:a16="http://schemas.microsoft.com/office/drawing/2014/main" id="{831C707D-93E9-414F-843F-F4D78C9D93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27F67E3-4987-4DF2-B411-56C4CED6AA42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3</a:t>
            </a:r>
          </a:p>
        </p:txBody>
      </p:sp>
      <p:sp>
        <p:nvSpPr>
          <p:cNvPr id="42" name="Скругленный прямоугольник 13">
            <a:extLst>
              <a:ext uri="{FF2B5EF4-FFF2-40B4-BE49-F238E27FC236}">
                <a16:creationId xmlns:a16="http://schemas.microsoft.com/office/drawing/2014/main" id="{5260C6C9-9EE2-4ED7-93FB-2A56CF3C0DD6}"/>
              </a:ext>
            </a:extLst>
          </p:cNvPr>
          <p:cNvSpPr/>
          <p:nvPr/>
        </p:nvSpPr>
        <p:spPr>
          <a:xfrm>
            <a:off x="666235" y="1165811"/>
            <a:ext cx="4733932" cy="1678434"/>
          </a:xfrm>
          <a:prstGeom prst="roundRect">
            <a:avLst>
              <a:gd name="adj" fmla="val 11602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533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C77D5639-B28F-463B-A39A-39A564DB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799" y="1638642"/>
            <a:ext cx="4261674" cy="124786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solidFill>
                  <a:srgbClr val="05336E"/>
                </a:solidFill>
              </a:rPr>
              <a:t>Разбиение слов на группы на основе близости лексических значений.</a:t>
            </a: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0990E8FB-ED6F-4190-AEB6-62E0B33322CE}"/>
              </a:ext>
            </a:extLst>
          </p:cNvPr>
          <p:cNvGrpSpPr/>
          <p:nvPr/>
        </p:nvGrpSpPr>
        <p:grpSpPr>
          <a:xfrm>
            <a:off x="666234" y="838152"/>
            <a:ext cx="3698051" cy="678585"/>
            <a:chOff x="195368" y="575034"/>
            <a:chExt cx="3698051" cy="678585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B3D09A42-B3FD-4E06-8D4F-6EC335936195}"/>
                </a:ext>
              </a:extLst>
            </p:cNvPr>
            <p:cNvGrpSpPr/>
            <p:nvPr/>
          </p:nvGrpSpPr>
          <p:grpSpPr>
            <a:xfrm>
              <a:off x="367645" y="575034"/>
              <a:ext cx="3525774" cy="678585"/>
              <a:chOff x="250102" y="2779252"/>
              <a:chExt cx="1315658" cy="779902"/>
            </a:xfrm>
          </p:grpSpPr>
          <p:sp>
            <p:nvSpPr>
              <p:cNvPr id="29" name="Скругленный прямоугольник 56">
                <a:extLst>
                  <a:ext uri="{FF2B5EF4-FFF2-40B4-BE49-F238E27FC236}">
                    <a16:creationId xmlns:a16="http://schemas.microsoft.com/office/drawing/2014/main" id="{AAFE25D1-883E-4D80-A369-159CC26E326E}"/>
                  </a:ext>
                </a:extLst>
              </p:cNvPr>
              <p:cNvSpPr/>
              <p:nvPr/>
            </p:nvSpPr>
            <p:spPr>
              <a:xfrm>
                <a:off x="250102" y="2779252"/>
                <a:ext cx="1315658" cy="779902"/>
              </a:xfrm>
              <a:prstGeom prst="roundRect">
                <a:avLst>
                  <a:gd name="adj" fmla="val 25098"/>
                </a:avLst>
              </a:prstGeom>
              <a:solidFill>
                <a:srgbClr val="0533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0" name="Заголовок 1">
                <a:extLst>
                  <a:ext uri="{FF2B5EF4-FFF2-40B4-BE49-F238E27FC236}">
                    <a16:creationId xmlns:a16="http://schemas.microsoft.com/office/drawing/2014/main" id="{FA5AAC87-EA4F-4A81-A019-9066ECD532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4890" y="2854561"/>
                <a:ext cx="1020120" cy="6046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ru-RU" sz="2400" b="1" dirty="0">
                    <a:solidFill>
                      <a:schemeClr val="bg1"/>
                    </a:solidFill>
                  </a:rPr>
                  <a:t>Кластеризация</a:t>
                </a:r>
              </a:p>
            </p:txBody>
          </p:sp>
        </p:grp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99E52D56-44F3-43A0-8B7E-6EAC3FC41672}"/>
                </a:ext>
              </a:extLst>
            </p:cNvPr>
            <p:cNvSpPr/>
            <p:nvPr/>
          </p:nvSpPr>
          <p:spPr>
            <a:xfrm>
              <a:off x="195368" y="576093"/>
              <a:ext cx="677525" cy="67752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533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rgbClr val="05336E"/>
                  </a:solidFill>
                </a:rPr>
                <a:t>5</a:t>
              </a:r>
            </a:p>
          </p:txBody>
        </p:sp>
      </p:grpSp>
      <p:sp>
        <p:nvSpPr>
          <p:cNvPr id="44" name="Скругленный прямоугольник 13">
            <a:extLst>
              <a:ext uri="{FF2B5EF4-FFF2-40B4-BE49-F238E27FC236}">
                <a16:creationId xmlns:a16="http://schemas.microsoft.com/office/drawing/2014/main" id="{734F2C91-1CB7-4888-92F4-C991E509DC68}"/>
              </a:ext>
            </a:extLst>
          </p:cNvPr>
          <p:cNvSpPr/>
          <p:nvPr/>
        </p:nvSpPr>
        <p:spPr>
          <a:xfrm>
            <a:off x="668722" y="3945129"/>
            <a:ext cx="4733932" cy="1372331"/>
          </a:xfrm>
          <a:prstGeom prst="roundRect">
            <a:avLst>
              <a:gd name="adj" fmla="val 1335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533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Объект 2">
            <a:extLst>
              <a:ext uri="{FF2B5EF4-FFF2-40B4-BE49-F238E27FC236}">
                <a16:creationId xmlns:a16="http://schemas.microsoft.com/office/drawing/2014/main" id="{38524D24-4E54-43FC-93DE-50CB5237F0A0}"/>
              </a:ext>
            </a:extLst>
          </p:cNvPr>
          <p:cNvSpPr txBox="1">
            <a:spLocks/>
          </p:cNvSpPr>
          <p:nvPr/>
        </p:nvSpPr>
        <p:spPr>
          <a:xfrm>
            <a:off x="1037286" y="4417960"/>
            <a:ext cx="4261674" cy="780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5336E"/>
                </a:solidFill>
              </a:rPr>
              <a:t>Подсчёт весов узлов и рёбер между ними.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506EC30B-140C-41BF-AEB2-8CB9D44BD6D3}"/>
              </a:ext>
            </a:extLst>
          </p:cNvPr>
          <p:cNvGrpSpPr/>
          <p:nvPr/>
        </p:nvGrpSpPr>
        <p:grpSpPr>
          <a:xfrm>
            <a:off x="668721" y="3617470"/>
            <a:ext cx="3698051" cy="678585"/>
            <a:chOff x="195368" y="575034"/>
            <a:chExt cx="3698051" cy="678585"/>
          </a:xfrm>
        </p:grpSpPr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653D7085-6CD8-40C2-9423-03F5E465160D}"/>
                </a:ext>
              </a:extLst>
            </p:cNvPr>
            <p:cNvGrpSpPr/>
            <p:nvPr/>
          </p:nvGrpSpPr>
          <p:grpSpPr>
            <a:xfrm>
              <a:off x="367645" y="575034"/>
              <a:ext cx="3525774" cy="678585"/>
              <a:chOff x="250102" y="2779252"/>
              <a:chExt cx="1315658" cy="779902"/>
            </a:xfrm>
          </p:grpSpPr>
          <p:sp>
            <p:nvSpPr>
              <p:cNvPr id="49" name="Скругленный прямоугольник 56">
                <a:extLst>
                  <a:ext uri="{FF2B5EF4-FFF2-40B4-BE49-F238E27FC236}">
                    <a16:creationId xmlns:a16="http://schemas.microsoft.com/office/drawing/2014/main" id="{1E84C0CD-21D4-4E86-BF9F-82D7379D36B8}"/>
                  </a:ext>
                </a:extLst>
              </p:cNvPr>
              <p:cNvSpPr/>
              <p:nvPr/>
            </p:nvSpPr>
            <p:spPr>
              <a:xfrm>
                <a:off x="250102" y="2779252"/>
                <a:ext cx="1315658" cy="779902"/>
              </a:xfrm>
              <a:prstGeom prst="roundRect">
                <a:avLst>
                  <a:gd name="adj" fmla="val 25098"/>
                </a:avLst>
              </a:prstGeom>
              <a:solidFill>
                <a:srgbClr val="0533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50" name="Заголовок 1">
                <a:extLst>
                  <a:ext uri="{FF2B5EF4-FFF2-40B4-BE49-F238E27FC236}">
                    <a16:creationId xmlns:a16="http://schemas.microsoft.com/office/drawing/2014/main" id="{F51C65C1-438E-4805-886D-306EFCC5A8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962" y="2854561"/>
                <a:ext cx="1020119" cy="6046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ru-RU" sz="2400" b="1" dirty="0">
                    <a:solidFill>
                      <a:schemeClr val="bg1"/>
                    </a:solidFill>
                  </a:rPr>
                  <a:t>Статистика</a:t>
                </a:r>
              </a:p>
            </p:txBody>
          </p:sp>
        </p:grp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id="{21E50111-B97A-4067-8F21-C5FC1C666DF2}"/>
                </a:ext>
              </a:extLst>
            </p:cNvPr>
            <p:cNvSpPr/>
            <p:nvPr/>
          </p:nvSpPr>
          <p:spPr>
            <a:xfrm>
              <a:off x="195368" y="576093"/>
              <a:ext cx="677525" cy="67752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533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rgbClr val="05336E"/>
                  </a:solidFill>
                </a:rPr>
                <a:t>6</a:t>
              </a:r>
            </a:p>
          </p:txBody>
        </p:sp>
      </p:grpSp>
      <p:sp>
        <p:nvSpPr>
          <p:cNvPr id="51" name="Скругленный прямоугольник 13">
            <a:extLst>
              <a:ext uri="{FF2B5EF4-FFF2-40B4-BE49-F238E27FC236}">
                <a16:creationId xmlns:a16="http://schemas.microsoft.com/office/drawing/2014/main" id="{7E72E4EE-526F-405C-AE34-48076BF43A7B}"/>
              </a:ext>
            </a:extLst>
          </p:cNvPr>
          <p:cNvSpPr/>
          <p:nvPr/>
        </p:nvSpPr>
        <p:spPr>
          <a:xfrm>
            <a:off x="6787498" y="1140580"/>
            <a:ext cx="4930020" cy="4904498"/>
          </a:xfrm>
          <a:prstGeom prst="roundRect">
            <a:avLst>
              <a:gd name="adj" fmla="val 52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533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Объект 2">
            <a:extLst>
              <a:ext uri="{FF2B5EF4-FFF2-40B4-BE49-F238E27FC236}">
                <a16:creationId xmlns:a16="http://schemas.microsoft.com/office/drawing/2014/main" id="{3DAD704A-4D2F-4F6A-9307-1A1D1FE63AA6}"/>
              </a:ext>
            </a:extLst>
          </p:cNvPr>
          <p:cNvSpPr txBox="1">
            <a:spLocks/>
          </p:cNvSpPr>
          <p:nvPr/>
        </p:nvSpPr>
        <p:spPr>
          <a:xfrm>
            <a:off x="7156062" y="1613412"/>
            <a:ext cx="4365368" cy="42783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400" dirty="0">
                <a:solidFill>
                  <a:srgbClr val="05336E"/>
                </a:solidFill>
              </a:rPr>
              <a:t>Формируется </a:t>
            </a:r>
            <a:r>
              <a:rPr lang="ru-RU" sz="2400" b="1" dirty="0">
                <a:solidFill>
                  <a:srgbClr val="05336E"/>
                </a:solidFill>
              </a:rPr>
              <a:t>набор ключевых слов</a:t>
            </a:r>
            <a:r>
              <a:rPr lang="ru-RU" sz="2400" dirty="0">
                <a:solidFill>
                  <a:srgbClr val="05336E"/>
                </a:solidFill>
              </a:rPr>
              <a:t>, </a:t>
            </a:r>
            <a:r>
              <a:rPr lang="ru-RU" sz="2400" b="1" dirty="0">
                <a:solidFill>
                  <a:srgbClr val="05336E"/>
                </a:solidFill>
              </a:rPr>
              <a:t>определяются весы </a:t>
            </a:r>
            <a:r>
              <a:rPr lang="ru-RU" sz="2400" dirty="0">
                <a:solidFill>
                  <a:srgbClr val="05336E"/>
                </a:solidFill>
              </a:rPr>
              <a:t>их взаимосвязей между собой.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05336E"/>
                </a:solidFill>
              </a:rPr>
              <a:t>Для каждого понятия </a:t>
            </a:r>
            <a:r>
              <a:rPr lang="ru-RU" sz="2400" dirty="0">
                <a:solidFill>
                  <a:srgbClr val="05336E"/>
                </a:solidFill>
              </a:rPr>
              <a:t>необходимо сохранять ссылку на источник с указанием, где </a:t>
            </a:r>
            <a:r>
              <a:rPr lang="ru-RU" sz="2400" b="1" dirty="0">
                <a:solidFill>
                  <a:srgbClr val="05336E"/>
                </a:solidFill>
              </a:rPr>
              <a:t>сколько вхождений подсчитано</a:t>
            </a:r>
            <a:r>
              <a:rPr lang="ru-RU" sz="2400" dirty="0">
                <a:solidFill>
                  <a:srgbClr val="05336E"/>
                </a:solidFill>
              </a:rPr>
              <a:t>.</a:t>
            </a:r>
          </a:p>
          <a:p>
            <a:pPr marL="0" indent="0" algn="just">
              <a:buNone/>
            </a:pPr>
            <a:r>
              <a:rPr lang="ru-RU" sz="2400" dirty="0">
                <a:solidFill>
                  <a:srgbClr val="05336E"/>
                </a:solidFill>
              </a:rPr>
              <a:t>Источник должен содержать информацию о </a:t>
            </a:r>
            <a:r>
              <a:rPr lang="ru-RU" sz="2400" b="1" dirty="0">
                <a:solidFill>
                  <a:srgbClr val="05336E"/>
                </a:solidFill>
              </a:rPr>
              <a:t>названии</a:t>
            </a:r>
            <a:r>
              <a:rPr lang="ru-RU" sz="2400" dirty="0">
                <a:solidFill>
                  <a:srgbClr val="05336E"/>
                </a:solidFill>
              </a:rPr>
              <a:t> законопроекта, </a:t>
            </a:r>
            <a:r>
              <a:rPr lang="ru-RU" sz="2400" b="1" dirty="0">
                <a:solidFill>
                  <a:srgbClr val="05336E"/>
                </a:solidFill>
              </a:rPr>
              <a:t>ссылке</a:t>
            </a:r>
            <a:r>
              <a:rPr lang="ru-RU" sz="2400" dirty="0">
                <a:solidFill>
                  <a:srgbClr val="05336E"/>
                </a:solidFill>
              </a:rPr>
              <a:t> на него и </a:t>
            </a:r>
            <a:r>
              <a:rPr lang="ru-RU" sz="2400" b="1" dirty="0">
                <a:solidFill>
                  <a:srgbClr val="05336E"/>
                </a:solidFill>
              </a:rPr>
              <a:t>дате</a:t>
            </a:r>
            <a:r>
              <a:rPr lang="ru-RU" sz="2400" dirty="0">
                <a:solidFill>
                  <a:srgbClr val="05336E"/>
                </a:solidFill>
              </a:rPr>
              <a:t> его регистрации.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FF4FDBE-E6DF-4A87-8FD8-7FB5404FB206}"/>
              </a:ext>
            </a:extLst>
          </p:cNvPr>
          <p:cNvGrpSpPr/>
          <p:nvPr/>
        </p:nvGrpSpPr>
        <p:grpSpPr>
          <a:xfrm>
            <a:off x="6785011" y="838152"/>
            <a:ext cx="3698051" cy="678585"/>
            <a:chOff x="195368" y="575034"/>
            <a:chExt cx="3698051" cy="678585"/>
          </a:xfrm>
        </p:grpSpPr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5B874D43-C281-48E1-9C3E-2FF4CAA6829A}"/>
                </a:ext>
              </a:extLst>
            </p:cNvPr>
            <p:cNvGrpSpPr/>
            <p:nvPr/>
          </p:nvGrpSpPr>
          <p:grpSpPr>
            <a:xfrm>
              <a:off x="367645" y="575034"/>
              <a:ext cx="3525774" cy="678585"/>
              <a:chOff x="250102" y="2779252"/>
              <a:chExt cx="1315658" cy="779902"/>
            </a:xfrm>
          </p:grpSpPr>
          <p:sp>
            <p:nvSpPr>
              <p:cNvPr id="27" name="Скругленный прямоугольник 56">
                <a:extLst>
                  <a:ext uri="{FF2B5EF4-FFF2-40B4-BE49-F238E27FC236}">
                    <a16:creationId xmlns:a16="http://schemas.microsoft.com/office/drawing/2014/main" id="{0A2E467E-BC6B-402B-A1BF-BB7BF80ABEE5}"/>
                  </a:ext>
                </a:extLst>
              </p:cNvPr>
              <p:cNvSpPr/>
              <p:nvPr/>
            </p:nvSpPr>
            <p:spPr>
              <a:xfrm>
                <a:off x="250102" y="2779252"/>
                <a:ext cx="1315658" cy="779902"/>
              </a:xfrm>
              <a:prstGeom prst="roundRect">
                <a:avLst>
                  <a:gd name="adj" fmla="val 25098"/>
                </a:avLst>
              </a:prstGeom>
              <a:solidFill>
                <a:srgbClr val="0533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1" name="Заголовок 1">
                <a:extLst>
                  <a:ext uri="{FF2B5EF4-FFF2-40B4-BE49-F238E27FC236}">
                    <a16:creationId xmlns:a16="http://schemas.microsoft.com/office/drawing/2014/main" id="{9F4D2F27-2AC3-4B1E-98C2-6AC170B5E0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3962" y="2854561"/>
                <a:ext cx="1020119" cy="60463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ru-RU" sz="2400" b="1" dirty="0">
                    <a:solidFill>
                      <a:schemeClr val="bg1"/>
                    </a:solidFill>
                  </a:rPr>
                  <a:t>В итоге</a:t>
                </a:r>
              </a:p>
            </p:txBody>
          </p:sp>
        </p:grp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E8D11295-A615-411D-8758-3C4CDEAFBB50}"/>
                </a:ext>
              </a:extLst>
            </p:cNvPr>
            <p:cNvSpPr/>
            <p:nvPr/>
          </p:nvSpPr>
          <p:spPr>
            <a:xfrm>
              <a:off x="195368" y="576093"/>
              <a:ext cx="677525" cy="67752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533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 dirty="0">
                <a:solidFill>
                  <a:srgbClr val="05336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3330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418956-6ACE-4807-89B7-788464494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0586"/>
            <a:ext cx="12192000" cy="5536828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3C1C47C3-9F4B-4E08-B3DD-68A4BB578E19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61817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9636B1-7D40-48DE-A727-4DA3CE8AE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496" y="1173284"/>
            <a:ext cx="7011008" cy="4511431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793C4B5E-2D8A-4A4E-B53A-1BB8613CB3E5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05770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8A424A-6F43-458C-8778-0594B975A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7" y="281667"/>
            <a:ext cx="12063505" cy="6294665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E5CFD790-B295-4E6C-BD28-ED43A6727157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57762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3DBDDB-084B-4429-9C95-C3531A095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4" y="239753"/>
            <a:ext cx="11911092" cy="6378493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72B35446-7BE4-4050-9E0B-7A750664A041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4953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C53E9F-CD28-464B-8D06-9CB3C341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124"/>
            <a:ext cx="12192000" cy="6113752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13596674-532B-45CA-992F-DA36D1925F7B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4289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397831-9698-4CD4-A3F0-A9781C435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" y="982768"/>
            <a:ext cx="10950889" cy="4892464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BB8AD07F-00B5-48F3-9188-8068EB294920}"/>
              </a:ext>
            </a:extLst>
          </p:cNvPr>
          <p:cNvSpPr/>
          <p:nvPr/>
        </p:nvSpPr>
        <p:spPr>
          <a:xfrm>
            <a:off x="224116" y="6090686"/>
            <a:ext cx="590550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32956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34C40A-A388-40D3-A73C-2B1F4CB30F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" y="374715"/>
            <a:ext cx="12160206" cy="6108569"/>
          </a:xfrm>
          <a:prstGeom prst="rect">
            <a:avLst/>
          </a:prstGeom>
        </p:spPr>
      </p:pic>
      <p:sp>
        <p:nvSpPr>
          <p:cNvPr id="6" name="Скругленный прямоугольник 10">
            <a:extLst>
              <a:ext uri="{FF2B5EF4-FFF2-40B4-BE49-F238E27FC236}">
                <a16:creationId xmlns:a16="http://schemas.microsoft.com/office/drawing/2014/main" id="{EC3DF508-8C29-4DC1-91F8-1F91EBAA8102}"/>
              </a:ext>
            </a:extLst>
          </p:cNvPr>
          <p:cNvSpPr/>
          <p:nvPr/>
        </p:nvSpPr>
        <p:spPr>
          <a:xfrm>
            <a:off x="9822549" y="5974934"/>
            <a:ext cx="1953218" cy="607326"/>
          </a:xfrm>
          <a:prstGeom prst="roundRect">
            <a:avLst>
              <a:gd name="adj" fmla="val 27532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DDDFAF6-2ED8-4023-820E-A37A018A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8514" y="5974934"/>
            <a:ext cx="1641289" cy="607326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Порог: 0,00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A3AEB6E-3CC2-41C8-AC5E-DEB47AD29793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1622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49DB91-2270-48BB-9A56-C5B0F1E71C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" y="374715"/>
            <a:ext cx="12176104" cy="6116555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10C55F01-C93D-4F76-99FD-BF31EB0F38D5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11</a:t>
            </a:r>
          </a:p>
        </p:txBody>
      </p:sp>
      <p:sp>
        <p:nvSpPr>
          <p:cNvPr id="10" name="Скругленный прямоугольник 10">
            <a:extLst>
              <a:ext uri="{FF2B5EF4-FFF2-40B4-BE49-F238E27FC236}">
                <a16:creationId xmlns:a16="http://schemas.microsoft.com/office/drawing/2014/main" id="{11E75D82-6239-40FF-90DA-F0B87DDA03AE}"/>
              </a:ext>
            </a:extLst>
          </p:cNvPr>
          <p:cNvSpPr/>
          <p:nvPr/>
        </p:nvSpPr>
        <p:spPr>
          <a:xfrm>
            <a:off x="9822549" y="5974934"/>
            <a:ext cx="1953218" cy="607326"/>
          </a:xfrm>
          <a:prstGeom prst="roundRect">
            <a:avLst>
              <a:gd name="adj" fmla="val 27532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CACBEC8-FA75-423B-B528-76A87AEEFE80}"/>
              </a:ext>
            </a:extLst>
          </p:cNvPr>
          <p:cNvSpPr txBox="1">
            <a:spLocks/>
          </p:cNvSpPr>
          <p:nvPr/>
        </p:nvSpPr>
        <p:spPr>
          <a:xfrm>
            <a:off x="9978514" y="5974934"/>
            <a:ext cx="1641289" cy="607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bg1"/>
                </a:solidFill>
              </a:rPr>
              <a:t>Порог: 0,21</a:t>
            </a:r>
          </a:p>
        </p:txBody>
      </p:sp>
    </p:spTree>
    <p:extLst>
      <p:ext uri="{BB962C8B-B14F-4D97-AF65-F5344CB8AC3E}">
        <p14:creationId xmlns:p14="http://schemas.microsoft.com/office/powerpoint/2010/main" val="3451565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01E99C-3854-49CF-B4D9-AE1481EC0A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6730"/>
            <a:ext cx="12176102" cy="6116554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DDDFAF6-2ED8-4023-820E-A37A018A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8514" y="5875958"/>
            <a:ext cx="1641289" cy="607326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Порог: 0,50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D1A48F0-74EF-4656-98C1-51F871C0DBE0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12</a:t>
            </a:r>
          </a:p>
        </p:txBody>
      </p:sp>
      <p:sp>
        <p:nvSpPr>
          <p:cNvPr id="10" name="Скругленный прямоугольник 10">
            <a:extLst>
              <a:ext uri="{FF2B5EF4-FFF2-40B4-BE49-F238E27FC236}">
                <a16:creationId xmlns:a16="http://schemas.microsoft.com/office/drawing/2014/main" id="{A38A5745-E9C2-4AF1-B30E-768868963FC9}"/>
              </a:ext>
            </a:extLst>
          </p:cNvPr>
          <p:cNvSpPr/>
          <p:nvPr/>
        </p:nvSpPr>
        <p:spPr>
          <a:xfrm>
            <a:off x="9822549" y="5974934"/>
            <a:ext cx="1953218" cy="607326"/>
          </a:xfrm>
          <a:prstGeom prst="roundRect">
            <a:avLst>
              <a:gd name="adj" fmla="val 27532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4D5EE60-DC46-47D0-B1D3-69617814FD8E}"/>
              </a:ext>
            </a:extLst>
          </p:cNvPr>
          <p:cNvSpPr txBox="1">
            <a:spLocks/>
          </p:cNvSpPr>
          <p:nvPr/>
        </p:nvSpPr>
        <p:spPr>
          <a:xfrm>
            <a:off x="9978514" y="5974934"/>
            <a:ext cx="1641289" cy="607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bg1"/>
                </a:solidFill>
              </a:rPr>
              <a:t>Порог: 0,50</a:t>
            </a:r>
          </a:p>
        </p:txBody>
      </p:sp>
    </p:spTree>
    <p:extLst>
      <p:ext uri="{BB962C8B-B14F-4D97-AF65-F5344CB8AC3E}">
        <p14:creationId xmlns:p14="http://schemas.microsoft.com/office/powerpoint/2010/main" val="427978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A379D8-5859-4FEB-A79F-73DA1E1ED1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6730"/>
            <a:ext cx="12192000" cy="6124540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00BED28F-71E3-4C01-8790-086DF412FF8D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13</a:t>
            </a:r>
          </a:p>
        </p:txBody>
      </p:sp>
      <p:sp>
        <p:nvSpPr>
          <p:cNvPr id="10" name="Скругленный прямоугольник 10">
            <a:extLst>
              <a:ext uri="{FF2B5EF4-FFF2-40B4-BE49-F238E27FC236}">
                <a16:creationId xmlns:a16="http://schemas.microsoft.com/office/drawing/2014/main" id="{BBB30887-9116-479D-B169-7C319C6E176C}"/>
              </a:ext>
            </a:extLst>
          </p:cNvPr>
          <p:cNvSpPr/>
          <p:nvPr/>
        </p:nvSpPr>
        <p:spPr>
          <a:xfrm>
            <a:off x="9822549" y="5974934"/>
            <a:ext cx="1953218" cy="607326"/>
          </a:xfrm>
          <a:prstGeom prst="roundRect">
            <a:avLst>
              <a:gd name="adj" fmla="val 27532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3FF1230A-412E-4C4A-AE48-CB33B8C61A1E}"/>
              </a:ext>
            </a:extLst>
          </p:cNvPr>
          <p:cNvSpPr txBox="1">
            <a:spLocks/>
          </p:cNvSpPr>
          <p:nvPr/>
        </p:nvSpPr>
        <p:spPr>
          <a:xfrm>
            <a:off x="9978514" y="5974934"/>
            <a:ext cx="1641289" cy="607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bg1"/>
                </a:solidFill>
              </a:rPr>
              <a:t>Порог: 0,79</a:t>
            </a:r>
          </a:p>
        </p:txBody>
      </p:sp>
    </p:spTree>
    <p:extLst>
      <p:ext uri="{BB962C8B-B14F-4D97-AF65-F5344CB8AC3E}">
        <p14:creationId xmlns:p14="http://schemas.microsoft.com/office/powerpoint/2010/main" val="2546564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B5EA88-1463-4254-A84D-8EE367DC6A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6730"/>
            <a:ext cx="12192000" cy="6124540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2FDE19BA-6C63-4C22-824F-97C79626E900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14</a:t>
            </a:r>
          </a:p>
        </p:txBody>
      </p:sp>
      <p:sp>
        <p:nvSpPr>
          <p:cNvPr id="9" name="Скругленный прямоугольник 10">
            <a:extLst>
              <a:ext uri="{FF2B5EF4-FFF2-40B4-BE49-F238E27FC236}">
                <a16:creationId xmlns:a16="http://schemas.microsoft.com/office/drawing/2014/main" id="{703D17EF-AA62-42D6-AE68-FC179C1CCF20}"/>
              </a:ext>
            </a:extLst>
          </p:cNvPr>
          <p:cNvSpPr/>
          <p:nvPr/>
        </p:nvSpPr>
        <p:spPr>
          <a:xfrm>
            <a:off x="9822549" y="5974934"/>
            <a:ext cx="1953218" cy="607326"/>
          </a:xfrm>
          <a:prstGeom prst="roundRect">
            <a:avLst>
              <a:gd name="adj" fmla="val 27532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BFA6A60-728F-4081-BBDA-4CFB6088E02C}"/>
              </a:ext>
            </a:extLst>
          </p:cNvPr>
          <p:cNvSpPr txBox="1">
            <a:spLocks/>
          </p:cNvSpPr>
          <p:nvPr/>
        </p:nvSpPr>
        <p:spPr>
          <a:xfrm>
            <a:off x="9978514" y="5974934"/>
            <a:ext cx="1641289" cy="6073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bg1"/>
                </a:solidFill>
              </a:rPr>
              <a:t>Порог: 0,79</a:t>
            </a:r>
          </a:p>
        </p:txBody>
      </p:sp>
    </p:spTree>
    <p:extLst>
      <p:ext uri="{BB962C8B-B14F-4D97-AF65-F5344CB8AC3E}">
        <p14:creationId xmlns:p14="http://schemas.microsoft.com/office/powerpoint/2010/main" val="526732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4A5BE1-31A7-4418-AA94-42E671074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971"/>
            <a:ext cx="12192000" cy="6468057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DA77FA94-E293-4409-8D5C-DE00A684D2C9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93573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5E6069-AF8D-4162-BC5E-4ED4EF861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52"/>
            <a:ext cx="12192000" cy="6461696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2EA0F2C4-08D6-4F38-9AFF-1C64D5B0C11D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85156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9089D4-580C-4DB3-BACA-7363A0438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970"/>
            <a:ext cx="12192000" cy="5658060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A48D4029-6240-4A0C-A24B-D2AB35C61E7F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50860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C4428D-BDB3-4BC8-A22B-8205879A7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3551"/>
            <a:ext cx="12192000" cy="6270898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07647096-D98D-4EB6-AF64-6B8D6A77F467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05698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A0F1B5-9A2A-43C7-8608-79DF4B108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7466"/>
            <a:ext cx="12192000" cy="5903067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2B5A155E-B8CB-4593-83A6-5DA021E91D48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26130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7FC954-0231-4812-BAB1-415532798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971"/>
            <a:ext cx="12192000" cy="6468057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27ADC948-F9CD-4F52-BB5B-554CC2FFF783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05289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4FF05B-A2E8-4850-B464-580B349FC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708"/>
            <a:ext cx="12192000" cy="5680583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DF111E7C-A6DF-4835-8F85-9428397B3917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243888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2984D0-0369-4265-A859-4900AA0AB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332"/>
            <a:ext cx="12192000" cy="6455336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135D90B6-48CC-4F74-B9CE-BA6E0D26B0C5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909917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CDC431-18DE-422A-BD11-45438D89A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102"/>
            <a:ext cx="12192000" cy="6477795"/>
          </a:xfrm>
          <a:prstGeom prst="rect">
            <a:avLst/>
          </a:pr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310A050D-8B8B-4B9E-9ABD-89431F8E4F53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547323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A935C8B-56B2-4247-BA37-D92158D5F5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5076" y="-128917"/>
            <a:ext cx="14143285" cy="7104751"/>
          </a:xfrm>
          <a:prstGeom prst="rect">
            <a:avLst/>
          </a:prstGeom>
        </p:spPr>
      </p:pic>
      <p:sp>
        <p:nvSpPr>
          <p:cNvPr id="2" name="Скругленный прямоугольник 21">
            <a:extLst>
              <a:ext uri="{FF2B5EF4-FFF2-40B4-BE49-F238E27FC236}">
                <a16:creationId xmlns:a16="http://schemas.microsoft.com/office/drawing/2014/main" id="{529188B8-1CBD-4298-83D5-DCDCDFB31AD4}"/>
              </a:ext>
            </a:extLst>
          </p:cNvPr>
          <p:cNvSpPr/>
          <p:nvPr/>
        </p:nvSpPr>
        <p:spPr>
          <a:xfrm>
            <a:off x="6004874" y="590843"/>
            <a:ext cx="6679495" cy="815925"/>
          </a:xfrm>
          <a:prstGeom prst="roundRect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A264184-31DD-4DAD-9DAD-F591EA14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545" y="365125"/>
            <a:ext cx="5517259" cy="1325563"/>
          </a:xfrm>
        </p:spPr>
        <p:txBody>
          <a:bodyPr>
            <a:normAutofit/>
          </a:bodyPr>
          <a:lstStyle/>
          <a:p>
            <a:r>
              <a:rPr lang="ru-RU" sz="4200" b="1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Скругленный прямоугольник 23">
            <a:extLst>
              <a:ext uri="{FF2B5EF4-FFF2-40B4-BE49-F238E27FC236}">
                <a16:creationId xmlns:a16="http://schemas.microsoft.com/office/drawing/2014/main" id="{C6A93373-36FB-481E-83CE-A4115440CBBD}"/>
              </a:ext>
            </a:extLst>
          </p:cNvPr>
          <p:cNvSpPr/>
          <p:nvPr/>
        </p:nvSpPr>
        <p:spPr>
          <a:xfrm>
            <a:off x="6004874" y="1994261"/>
            <a:ext cx="5529975" cy="4139120"/>
          </a:xfrm>
          <a:prstGeom prst="roundRect">
            <a:avLst>
              <a:gd name="adj" fmla="val 561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533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C71EC-B810-4392-A580-E1A590FF9A42}"/>
              </a:ext>
            </a:extLst>
          </p:cNvPr>
          <p:cNvSpPr txBox="1"/>
          <p:nvPr/>
        </p:nvSpPr>
        <p:spPr>
          <a:xfrm>
            <a:off x="6240545" y="2123370"/>
            <a:ext cx="4988930" cy="378565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400" dirty="0">
                <a:solidFill>
                  <a:srgbClr val="05336E"/>
                </a:solidFill>
              </a:rPr>
              <a:t>Реализован функционал фильтрации данных, установления порога кластеризации, стилизации графа, ручного и полуавтоматического импорта данных.</a:t>
            </a:r>
          </a:p>
          <a:p>
            <a:pPr algn="just"/>
            <a:endParaRPr lang="ru-RU" sz="2400" dirty="0">
              <a:solidFill>
                <a:srgbClr val="05336E"/>
              </a:solidFill>
            </a:endParaRPr>
          </a:p>
          <a:p>
            <a:pPr algn="just"/>
            <a:r>
              <a:rPr lang="ru-RU" sz="2400" dirty="0">
                <a:solidFill>
                  <a:srgbClr val="05336E"/>
                </a:solidFill>
              </a:rPr>
              <a:t>Проведена работа по составлению «портретов». </a:t>
            </a:r>
            <a:r>
              <a:rPr lang="ru-RU" sz="2400" b="1" dirty="0">
                <a:solidFill>
                  <a:srgbClr val="05336E"/>
                </a:solidFill>
              </a:rPr>
              <a:t>Семантический граф показан как инструмент анализа политической риторики.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4B6C5618-5591-45D6-8AD6-0BF0730C5480}"/>
              </a:ext>
            </a:extLst>
          </p:cNvPr>
          <p:cNvSpPr/>
          <p:nvPr/>
        </p:nvSpPr>
        <p:spPr>
          <a:xfrm>
            <a:off x="224116" y="6090686"/>
            <a:ext cx="718564" cy="590550"/>
          </a:xfrm>
          <a:prstGeom prst="ellipse">
            <a:avLst/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74547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F3240561-6BE8-478C-A1DC-E1AC5B8C9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775341"/>
            <a:ext cx="10143581" cy="193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Скругленный прямоугольник 13">
            <a:extLst>
              <a:ext uri="{FF2B5EF4-FFF2-40B4-BE49-F238E27FC236}">
                <a16:creationId xmlns:a16="http://schemas.microsoft.com/office/drawing/2014/main" id="{770FAF44-7D5B-46E4-9B5B-A8A7003BD54B}"/>
              </a:ext>
            </a:extLst>
          </p:cNvPr>
          <p:cNvSpPr/>
          <p:nvPr/>
        </p:nvSpPr>
        <p:spPr>
          <a:xfrm>
            <a:off x="-349625" y="6239295"/>
            <a:ext cx="12843654" cy="7315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9">
            <a:extLst>
              <a:ext uri="{FF2B5EF4-FFF2-40B4-BE49-F238E27FC236}">
                <a16:creationId xmlns:a16="http://schemas.microsoft.com/office/drawing/2014/main" id="{DCBD03D2-DFF7-4CC7-8D3B-67B7166AC334}"/>
              </a:ext>
            </a:extLst>
          </p:cNvPr>
          <p:cNvSpPr/>
          <p:nvPr/>
        </p:nvSpPr>
        <p:spPr>
          <a:xfrm>
            <a:off x="-349624" y="5436524"/>
            <a:ext cx="10981602" cy="10044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7">
            <a:extLst>
              <a:ext uri="{FF2B5EF4-FFF2-40B4-BE49-F238E27FC236}">
                <a16:creationId xmlns:a16="http://schemas.microsoft.com/office/drawing/2014/main" id="{10702032-B4BB-404A-9224-EAB948D929BD}"/>
              </a:ext>
            </a:extLst>
          </p:cNvPr>
          <p:cNvSpPr/>
          <p:nvPr/>
        </p:nvSpPr>
        <p:spPr>
          <a:xfrm>
            <a:off x="-333000" y="4530435"/>
            <a:ext cx="10258397" cy="1281915"/>
          </a:xfrm>
          <a:prstGeom prst="roundRect">
            <a:avLst>
              <a:gd name="adj" fmla="val 14350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D38C3AA0-E0DA-44B1-9A2C-8398122C24BA}"/>
              </a:ext>
            </a:extLst>
          </p:cNvPr>
          <p:cNvSpPr txBox="1">
            <a:spLocks/>
          </p:cNvSpPr>
          <p:nvPr/>
        </p:nvSpPr>
        <p:spPr>
          <a:xfrm>
            <a:off x="1373054" y="5900273"/>
            <a:ext cx="8203205" cy="780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05336E"/>
                </a:solidFill>
              </a:rPr>
              <a:t>Факультет ИБС, Рассказов И. А.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E9B442AB-6C78-4DCD-9B43-2294D973B028}"/>
              </a:ext>
            </a:extLst>
          </p:cNvPr>
          <p:cNvSpPr txBox="1">
            <a:spLocks/>
          </p:cNvSpPr>
          <p:nvPr/>
        </p:nvSpPr>
        <p:spPr>
          <a:xfrm>
            <a:off x="340820" y="4530436"/>
            <a:ext cx="9438450" cy="12819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6600" dirty="0">
                <a:solidFill>
                  <a:schemeClr val="bg1"/>
                </a:solidFill>
              </a:rPr>
              <a:t>Спасибо за внимание!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217520FB-AD57-4B4D-8185-CBF7FA4CAAA5}"/>
              </a:ext>
            </a:extLst>
          </p:cNvPr>
          <p:cNvGrpSpPr/>
          <p:nvPr/>
        </p:nvGrpSpPr>
        <p:grpSpPr>
          <a:xfrm>
            <a:off x="8823961" y="6035955"/>
            <a:ext cx="3163294" cy="711275"/>
            <a:chOff x="1993270" y="2584670"/>
            <a:chExt cx="9712342" cy="1466705"/>
          </a:xfrm>
        </p:grpSpPr>
        <p:sp>
          <p:nvSpPr>
            <p:cNvPr id="22" name="Скругленный прямоугольник 17">
              <a:extLst>
                <a:ext uri="{FF2B5EF4-FFF2-40B4-BE49-F238E27FC236}">
                  <a16:creationId xmlns:a16="http://schemas.microsoft.com/office/drawing/2014/main" id="{CCFD7580-DD68-48FD-BD16-F4C6E92F956A}"/>
                </a:ext>
              </a:extLst>
            </p:cNvPr>
            <p:cNvSpPr/>
            <p:nvPr/>
          </p:nvSpPr>
          <p:spPr>
            <a:xfrm>
              <a:off x="1993270" y="2645710"/>
              <a:ext cx="9712342" cy="1292808"/>
            </a:xfrm>
            <a:prstGeom prst="roundRect">
              <a:avLst>
                <a:gd name="adj" fmla="val 31439"/>
              </a:avLst>
            </a:prstGeom>
            <a:solidFill>
              <a:srgbClr val="BDD7EE"/>
            </a:solidFill>
            <a:ln>
              <a:solidFill>
                <a:srgbClr val="9DC3E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Заголовок 1">
              <a:extLst>
                <a:ext uri="{FF2B5EF4-FFF2-40B4-BE49-F238E27FC236}">
                  <a16:creationId xmlns:a16="http://schemas.microsoft.com/office/drawing/2014/main" id="{4875E2BE-116C-4864-95CD-2BB6527A8A09}"/>
                </a:ext>
              </a:extLst>
            </p:cNvPr>
            <p:cNvSpPr txBox="1">
              <a:spLocks/>
            </p:cNvSpPr>
            <p:nvPr/>
          </p:nvSpPr>
          <p:spPr>
            <a:xfrm>
              <a:off x="2002469" y="2584670"/>
              <a:ext cx="9703141" cy="146670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ru-RU" sz="2400" b="1" dirty="0">
                  <a:solidFill>
                    <a:srgbClr val="05336E"/>
                  </a:solidFill>
                </a:rPr>
                <a:t>Санкт-Петербург, 2026</a:t>
              </a:r>
            </a:p>
          </p:txBody>
        </p:sp>
      </p:grpSp>
      <p:sp>
        <p:nvSpPr>
          <p:cNvPr id="14" name="Скругленный прямоугольник 7">
            <a:extLst>
              <a:ext uri="{FF2B5EF4-FFF2-40B4-BE49-F238E27FC236}">
                <a16:creationId xmlns:a16="http://schemas.microsoft.com/office/drawing/2014/main" id="{A746CA98-CDFC-42FF-9A54-EA8540F2ACB5}"/>
              </a:ext>
            </a:extLst>
          </p:cNvPr>
          <p:cNvSpPr/>
          <p:nvPr/>
        </p:nvSpPr>
        <p:spPr>
          <a:xfrm>
            <a:off x="-333000" y="-1"/>
            <a:ext cx="12917783" cy="956511"/>
          </a:xfrm>
          <a:prstGeom prst="roundRect">
            <a:avLst>
              <a:gd name="adj" fmla="val 14736"/>
            </a:avLst>
          </a:prstGeom>
          <a:solidFill>
            <a:srgbClr val="0533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161FFADF-EB4A-4B92-A2C0-B87B97495241}"/>
              </a:ext>
            </a:extLst>
          </p:cNvPr>
          <p:cNvSpPr txBox="1">
            <a:spLocks/>
          </p:cNvSpPr>
          <p:nvPr/>
        </p:nvSpPr>
        <p:spPr>
          <a:xfrm>
            <a:off x="29891" y="100728"/>
            <a:ext cx="12192000" cy="755053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bg1"/>
                </a:solidFill>
                <a:latin typeface="+mn-lt"/>
              </a:rPr>
              <a:t>V молодежная (студенческая) научная конференция</a:t>
            </a:r>
            <a:br>
              <a:rPr lang="ru-RU" sz="2400" dirty="0">
                <a:solidFill>
                  <a:schemeClr val="bg1"/>
                </a:solidFill>
                <a:latin typeface="+mn-lt"/>
              </a:rPr>
            </a:br>
            <a:r>
              <a:rPr lang="ru-RU" sz="2400" dirty="0">
                <a:solidFill>
                  <a:schemeClr val="bg1"/>
                </a:solidFill>
                <a:latin typeface="+mn-lt"/>
              </a:rPr>
              <a:t>«Парламентаризм СНГ: от исторического опыта к моделям завтрашнего дня»</a:t>
            </a:r>
          </a:p>
        </p:txBody>
      </p:sp>
    </p:spTree>
    <p:extLst>
      <p:ext uri="{BB962C8B-B14F-4D97-AF65-F5344CB8AC3E}">
        <p14:creationId xmlns:p14="http://schemas.microsoft.com/office/powerpoint/2010/main" val="13854996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335</Words>
  <Application>Microsoft Office PowerPoint</Application>
  <PresentationFormat>Широкоэкранный</PresentationFormat>
  <Paragraphs>77</Paragraphs>
  <Slides>27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Тема Office</vt:lpstr>
      <vt:lpstr>Семантический граф как инструмент анализа политической риторики в Государственной Думе РФ посредством изучения пояснительных записок к законодательным инициативам</vt:lpstr>
      <vt:lpstr>План</vt:lpstr>
      <vt:lpstr>Введение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Порог: 0,00</vt:lpstr>
      <vt:lpstr>Презентация PowerPoint</vt:lpstr>
      <vt:lpstr>Порог: 0,50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Рассказов Иван</dc:creator>
  <cp:lastModifiedBy>Admin</cp:lastModifiedBy>
  <cp:revision>178</cp:revision>
  <dcterms:created xsi:type="dcterms:W3CDTF">2026-04-06T08:01:28Z</dcterms:created>
  <dcterms:modified xsi:type="dcterms:W3CDTF">2026-05-06T18:17:31Z</dcterms:modified>
</cp:coreProperties>
</file>